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Work Sans Semi-Bold" charset="1" panose="00000000000000000000"/>
      <p:regular r:id="rId32"/>
    </p:embeddedFont>
    <p:embeddedFont>
      <p:font typeface="IBM Plex Sans Arabic" charset="1" panose="020B0503050203000203"/>
      <p:regular r:id="rId33"/>
    </p:embeddedFont>
    <p:embeddedFont>
      <p:font typeface="Work Sans" charset="1" panose="00000000000000000000"/>
      <p:regular r:id="rId34"/>
    </p:embeddedFont>
    <p:embeddedFont>
      <p:font typeface="Canva Sans" charset="1" panose="020B0503030501040103"/>
      <p:regular r:id="rId35"/>
    </p:embeddedFont>
    <p:embeddedFont>
      <p:font typeface="Alice Bold" charset="1" panose="00000500000000000000"/>
      <p:regular r:id="rId36"/>
    </p:embeddedFont>
    <p:embeddedFont>
      <p:font typeface="Alice" charset="1" panose="00000500000000000000"/>
      <p:regular r:id="rId37"/>
    </p:embeddedFont>
    <p:embeddedFont>
      <p:font typeface="Work Sans Bold" charset="1" panose="00000000000000000000"/>
      <p:regular r:id="rId38"/>
    </p:embeddedFont>
    <p:embeddedFont>
      <p:font typeface="IBM Plex Sans Arabic Bold" charset="1" panose="020B0803050203000203"/>
      <p:regular r:id="rId39"/>
    </p:embeddedFont>
    <p:embeddedFont>
      <p:font typeface="Canva Sans Bold" charset="1" panose="020B08030305010401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94590" y="2925854"/>
            <a:ext cx="14098820" cy="263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3"/>
              </a:lnSpc>
            </a:pPr>
            <a:r>
              <a:rPr lang="en-US" b="true" sz="999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EXPENSE</a:t>
            </a:r>
            <a:r>
              <a:rPr lang="en-US" b="true" sz="9994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TRACKER WITH CATEGORIES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5618" y="6559363"/>
            <a:ext cx="2868108" cy="49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15"/>
              </a:lnSpc>
              <a:spcBef>
                <a:spcPct val="0"/>
              </a:spcBef>
            </a:pPr>
            <a:r>
              <a:rPr lang="en-US" sz="39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Mini Project</a:t>
            </a:r>
          </a:p>
        </p:txBody>
      </p:sp>
      <p:sp>
        <p:nvSpPr>
          <p:cNvPr name="AutoShape 6" id="6"/>
          <p:cNvSpPr/>
          <p:nvPr/>
        </p:nvSpPr>
        <p:spPr>
          <a:xfrm>
            <a:off x="4569418" y="92392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846609" y="8397830"/>
            <a:ext cx="6594782" cy="44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  <a:spcBef>
                <a:spcPct val="0"/>
              </a:spcBef>
            </a:pPr>
            <a:r>
              <a:rPr lang="en-US" sz="33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TRAINER : NARASIMHA RAO T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6531" y="973965"/>
            <a:ext cx="11097256" cy="139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b="true" sz="102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TEAM MEMBERS</a:t>
            </a:r>
          </a:p>
        </p:txBody>
      </p:sp>
      <p:sp>
        <p:nvSpPr>
          <p:cNvPr name="AutoShape 5" id="5"/>
          <p:cNvSpPr/>
          <p:nvPr/>
        </p:nvSpPr>
        <p:spPr>
          <a:xfrm>
            <a:off x="4339056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580881" y="2643056"/>
            <a:ext cx="12361784" cy="602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Kalpana Meena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Madhur Suresh Rao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Mohammad Rustam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Mohamed Faizan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Nikhil CS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Nikhil Kumar Gupta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Om Jadhav</a:t>
            </a:r>
          </a:p>
          <a:p>
            <a:pPr algn="l" marL="798847" indent="-399424" lvl="1">
              <a:lnSpc>
                <a:spcPts val="5180"/>
              </a:lnSpc>
              <a:buAutoNum type="arabicPeriod" startAt="1"/>
            </a:pPr>
            <a:r>
              <a:rPr lang="en-US" sz="37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Pankaj Kumar Rai</a:t>
            </a:r>
          </a:p>
          <a:p>
            <a:pPr algn="l">
              <a:lnSpc>
                <a:spcPts val="63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58830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92066" y="2041570"/>
            <a:ext cx="6049102" cy="94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6"/>
              </a:lnSpc>
            </a:pPr>
            <a:r>
              <a:rPr lang="en-US" b="true" sz="69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MODULE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8101" y="4047659"/>
            <a:ext cx="7397032" cy="328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Expense &amp; Category Management 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(Team A - 4 Members)</a:t>
            </a:r>
          </a:p>
          <a:p>
            <a:pPr algn="ctr">
              <a:lnSpc>
                <a:spcPts val="3702"/>
              </a:lnSpc>
            </a:pP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Mohammad Rustam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Om Jadhav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Nikhil CS</a:t>
            </a:r>
          </a:p>
          <a:p>
            <a:pPr algn="ctr" marL="0" indent="0" lvl="0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Pankaj Kumar Rai</a:t>
            </a:r>
          </a:p>
        </p:txBody>
      </p:sp>
      <p:sp>
        <p:nvSpPr>
          <p:cNvPr name="AutoShape 6" id="6"/>
          <p:cNvSpPr/>
          <p:nvPr/>
        </p:nvSpPr>
        <p:spPr>
          <a:xfrm>
            <a:off x="3814213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630079" y="2041570"/>
            <a:ext cx="6049102" cy="94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6"/>
              </a:lnSpc>
            </a:pPr>
            <a:r>
              <a:rPr lang="en-US" b="true" sz="69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MODULE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047659"/>
            <a:ext cx="7397032" cy="375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Analytics, Reports &amp; Performance 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(Team B - 4 Members)</a:t>
            </a:r>
          </a:p>
          <a:p>
            <a:pPr algn="ctr">
              <a:lnSpc>
                <a:spcPts val="3702"/>
              </a:lnSpc>
            </a:pP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Madhur Suresh Rao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Kalpana Meena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Mohammed Faizan</a:t>
            </a:r>
          </a:p>
          <a:p>
            <a:pPr algn="ctr">
              <a:lnSpc>
                <a:spcPts val="3702"/>
              </a:lnSpc>
            </a:pPr>
            <a:r>
              <a:rPr lang="en-US" sz="33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Nikhil Kumar Gupta</a:t>
            </a:r>
          </a:p>
          <a:p>
            <a:pPr algn="ctr" marL="0" indent="0" lvl="0">
              <a:lnSpc>
                <a:spcPts val="370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5059" y="85725"/>
            <a:ext cx="9097883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5"/>
              </a:lnSpc>
            </a:pPr>
            <a:r>
              <a:rPr lang="en-US" b="true" sz="5368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RESPONSIBILITIES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14350" y="813883"/>
          <a:ext cx="16744950" cy="9344316"/>
        </p:xfrm>
        <a:graphic>
          <a:graphicData uri="http://schemas.openxmlformats.org/drawingml/2006/table">
            <a:tbl>
              <a:tblPr/>
              <a:tblGrid>
                <a:gridCol w="4448360"/>
                <a:gridCol w="12296590"/>
              </a:tblGrid>
              <a:tr h="861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MEMBER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Alice Bold"/>
                          <a:ea typeface="Alice Bold"/>
                          <a:cs typeface="Alice Bold"/>
                          <a:sym typeface="Alice Bold"/>
                        </a:rPr>
                        <a:t>TASK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E4"/>
                    </a:solidFill>
                  </a:tcPr>
                </a:tc>
              </a:tr>
              <a:tr h="861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Om Jadhav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Built expense tracking interface with filtering, search, sorting, pagination, and responsive UI components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9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Nikhil CS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Built the authentication module consisting of a login+signup page, a sidebar logout icon with stored user details as well as the JSON server user services,encrypted the paswords,implemented user authentication in routing and Search Engine Optimization for the  application.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7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Kalpana Meena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Developed the expense summary component to provide a concise overview of financial data. Implemented search functionality and range-based filters on the Reports page for efficient data filtering.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2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Madhur Suresh Rao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Implemented category-based and date-range filter functionalities. Developed the reports table with sorting capabilities and pagination to enhance data organization and overall user experience.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9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Mohammed Faizan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Architected and developed the Analytics Dashboard with KPI metrics, and interactive data visualizations using Recharts. Integrated and merged team modules into the final application to ensure seamless functionality.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9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Mohammad Rustam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Architected the centralized 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Redux state management system using Redux Toolkit. Implemented Async Thunks for seamless API integration, managed server-side pagination logic, and integrated global theme persistence to ensure data consistency across the application.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4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Pankaj Kumar Rai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Architected and d</a:t>
                      </a:r>
                      <a:r>
                        <a:rPr lang="en-US" sz="19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eveloped the Category Management module with full CRUD operations, validation logic, and responsive UI integration.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1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Nikhil Kumar Gupta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Develop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ed the logic of Analytics Dashboard, including filter, KPI calculations, and data aggregations.</a:t>
                      </a:r>
                      <a:endParaRPr lang="en-US" sz="1100"/>
                    </a:p>
                    <a:p>
                      <a:pPr algn="l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Alice"/>
                          <a:ea typeface="Alice"/>
                          <a:cs typeface="Alice"/>
                          <a:sym typeface="Alice"/>
                        </a:rPr>
                        <a:t>Optimized computations with useMemo and prepared datasets for Recharts visualizations.</a:t>
                      </a: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40747" y="1095375"/>
            <a:ext cx="4662247" cy="128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b="true" sz="48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915" y="3052504"/>
            <a:ext cx="7607085" cy="601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0060" indent="-330030" lvl="1">
              <a:lnSpc>
                <a:spcPts val="3424"/>
              </a:lnSpc>
              <a:buFont typeface="Arial"/>
              <a:buChar char="•"/>
            </a:pPr>
            <a:r>
              <a:rPr lang="en-US" sz="3057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Users struggle to 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rack personal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ses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effective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 </a:t>
            </a:r>
          </a:p>
          <a:p>
            <a:pPr algn="l">
              <a:lnSpc>
                <a:spcPts val="3424"/>
              </a:lnSpc>
            </a:pPr>
          </a:p>
          <a:p>
            <a:pPr algn="l" marL="660060" indent="-330030" lvl="1">
              <a:lnSpc>
                <a:spcPts val="3424"/>
              </a:lnSpc>
              <a:buFont typeface="Arial"/>
              <a:buChar char="•"/>
            </a:pP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cent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alized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ystem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org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niz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expe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nse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by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tegor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ies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>
              <a:lnSpc>
                <a:spcPts val="3424"/>
              </a:lnSpc>
            </a:pPr>
          </a:p>
          <a:p>
            <a:pPr algn="l" marL="660060" indent="-330030" lvl="1">
              <a:lnSpc>
                <a:spcPts val="3424"/>
              </a:lnSpc>
              <a:buFont typeface="Arial"/>
              <a:buChar char="•"/>
            </a:pP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ff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cult to analyze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pend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ing patt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erns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ools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>
              <a:lnSpc>
                <a:spcPts val="3424"/>
              </a:lnSpc>
            </a:pPr>
          </a:p>
          <a:p>
            <a:pPr algn="l" marL="660060" indent="-330030" lvl="1">
              <a:lnSpc>
                <a:spcPts val="3424"/>
              </a:lnSpc>
              <a:buFont typeface="Arial"/>
              <a:buChar char="•"/>
            </a:pP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 expen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cking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is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e-c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nsuming an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error-pron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>
              <a:lnSpc>
                <a:spcPts val="3424"/>
              </a:lnSpc>
            </a:pPr>
          </a:p>
          <a:p>
            <a:pPr algn="l" marL="660060" indent="-330030" lvl="1">
              <a:lnSpc>
                <a:spcPts val="3424"/>
              </a:lnSpc>
              <a:buFont typeface="Arial"/>
              <a:buChar char="•"/>
            </a:pP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ac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 fil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ter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ng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 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earch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apab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ie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in existi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 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ol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uti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57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1506" y="3052504"/>
            <a:ext cx="7919197" cy="567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809" indent="-324405" lvl="1">
              <a:lnSpc>
                <a:spcPts val="3365"/>
              </a:lnSpc>
              <a:buFont typeface="Arial"/>
              <a:buChar char="•"/>
            </a:pPr>
            <a:r>
              <a:rPr lang="en-US" sz="300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eb-based 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Exp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ense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rac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w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it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ry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man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</a:t>
            </a: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ement</a:t>
            </a:r>
          </a:p>
          <a:p>
            <a:pPr algn="l">
              <a:lnSpc>
                <a:spcPts val="3365"/>
              </a:lnSpc>
            </a:pPr>
          </a:p>
          <a:p>
            <a:pPr algn="l" marL="648809" indent="-324405" lvl="1">
              <a:lnSpc>
                <a:spcPts val="3365"/>
              </a:lnSpc>
              <a:buFont typeface="Arial"/>
              <a:buChar char="•"/>
            </a:pPr>
            <a:r>
              <a:rPr lang="en-US" sz="30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Key features for users: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Add, edit, and delete expenses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Organize expenses by custom categories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Search expenses with debouncing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Filter by category and date range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Sort by amount and date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View analytics and spending reports</a:t>
            </a:r>
          </a:p>
          <a:p>
            <a:pPr algn="l">
              <a:lnSpc>
                <a:spcPts val="3253"/>
              </a:lnSpc>
            </a:pPr>
            <a:r>
              <a:rPr lang="en-US" sz="290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       o Responsive UI across all devices</a:t>
            </a:r>
          </a:p>
          <a:p>
            <a:pPr algn="l">
              <a:lnSpc>
                <a:spcPts val="2805"/>
              </a:lnSpc>
            </a:pPr>
          </a:p>
          <a:p>
            <a:pPr algn="l">
              <a:lnSpc>
                <a:spcPts val="2805"/>
              </a:lnSpc>
            </a:pPr>
          </a:p>
          <a:p>
            <a:pPr algn="l" marL="0" indent="0" lvl="0">
              <a:lnSpc>
                <a:spcPts val="336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11818" y="1404937"/>
            <a:ext cx="6181922" cy="66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b="true" sz="48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PROJECT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32347" y="1028700"/>
            <a:ext cx="12144271" cy="11374800"/>
          </a:xfrm>
          <a:custGeom>
            <a:avLst/>
            <a:gdLst/>
            <a:ahLst/>
            <a:cxnLst/>
            <a:rect r="r" b="b" t="t" l="l"/>
            <a:pathLst>
              <a:path h="11374800" w="12144271">
                <a:moveTo>
                  <a:pt x="0" y="0"/>
                </a:moveTo>
                <a:lnTo>
                  <a:pt x="12144272" y="0"/>
                </a:lnTo>
                <a:lnTo>
                  <a:pt x="12144272" y="11374800"/>
                </a:lnTo>
                <a:lnTo>
                  <a:pt x="0" y="1137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675" t="-6552" r="-2245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39610" y="359575"/>
            <a:ext cx="8581692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FOLDER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055096"/>
            <a:ext cx="16230600" cy="6176809"/>
          </a:xfrm>
          <a:custGeom>
            <a:avLst/>
            <a:gdLst/>
            <a:ahLst/>
            <a:cxnLst/>
            <a:rect r="r" b="b" t="t" l="l"/>
            <a:pathLst>
              <a:path h="6176809" w="16230600">
                <a:moveTo>
                  <a:pt x="0" y="0"/>
                </a:moveTo>
                <a:lnTo>
                  <a:pt x="16230600" y="0"/>
                </a:lnTo>
                <a:lnTo>
                  <a:pt x="16230600" y="6176808"/>
                </a:lnTo>
                <a:lnTo>
                  <a:pt x="0" y="6176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73" t="0" r="-267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3176" y="634208"/>
            <a:ext cx="8581692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TECH STACK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01535" y="-1110339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89981" y="741622"/>
            <a:ext cx="13782087" cy="8788000"/>
          </a:xfrm>
          <a:custGeom>
            <a:avLst/>
            <a:gdLst/>
            <a:ahLst/>
            <a:cxnLst/>
            <a:rect r="r" b="b" t="t" l="l"/>
            <a:pathLst>
              <a:path h="8788000" w="13782087">
                <a:moveTo>
                  <a:pt x="0" y="0"/>
                </a:moveTo>
                <a:lnTo>
                  <a:pt x="13782087" y="0"/>
                </a:lnTo>
                <a:lnTo>
                  <a:pt x="13782087" y="8788000"/>
                </a:lnTo>
                <a:lnTo>
                  <a:pt x="0" y="878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43" r="0" b="-22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24315" y="1095375"/>
            <a:ext cx="8581692" cy="61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3"/>
              </a:lnSpc>
            </a:pPr>
            <a:r>
              <a:rPr lang="en-US" b="true" sz="44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PROJECT FLOW CHART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59" y="1285879"/>
            <a:ext cx="9933138" cy="3234179"/>
          </a:xfrm>
          <a:custGeom>
            <a:avLst/>
            <a:gdLst/>
            <a:ahLst/>
            <a:cxnLst/>
            <a:rect r="r" b="b" t="t" l="l"/>
            <a:pathLst>
              <a:path h="3234179" w="9933138">
                <a:moveTo>
                  <a:pt x="0" y="0"/>
                </a:moveTo>
                <a:lnTo>
                  <a:pt x="9933138" y="0"/>
                </a:lnTo>
                <a:lnTo>
                  <a:pt x="9933138" y="3234179"/>
                </a:lnTo>
                <a:lnTo>
                  <a:pt x="0" y="3234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10" r="-84111" b="-14650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4342" y="4520058"/>
            <a:ext cx="10878012" cy="4683358"/>
          </a:xfrm>
          <a:custGeom>
            <a:avLst/>
            <a:gdLst/>
            <a:ahLst/>
            <a:cxnLst/>
            <a:rect r="r" b="b" t="t" l="l"/>
            <a:pathLst>
              <a:path h="4683358" w="10878012">
                <a:moveTo>
                  <a:pt x="0" y="0"/>
                </a:moveTo>
                <a:lnTo>
                  <a:pt x="10878011" y="0"/>
                </a:lnTo>
                <a:lnTo>
                  <a:pt x="10878011" y="4683358"/>
                </a:lnTo>
                <a:lnTo>
                  <a:pt x="0" y="4683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11" t="-71350" r="-65349" b="-168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72353" y="1249751"/>
            <a:ext cx="7014518" cy="7953665"/>
          </a:xfrm>
          <a:custGeom>
            <a:avLst/>
            <a:gdLst/>
            <a:ahLst/>
            <a:cxnLst/>
            <a:rect r="r" b="b" t="t" l="l"/>
            <a:pathLst>
              <a:path h="7953665" w="7014518">
                <a:moveTo>
                  <a:pt x="0" y="0"/>
                </a:moveTo>
                <a:lnTo>
                  <a:pt x="7014518" y="0"/>
                </a:lnTo>
                <a:lnTo>
                  <a:pt x="7014518" y="7953665"/>
                </a:lnTo>
                <a:lnTo>
                  <a:pt x="0" y="7953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6245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53154" y="415506"/>
            <a:ext cx="10120850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REDUX STATE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07335" y="221708"/>
            <a:ext cx="10802755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AUTHENTICATION AND SERVICES</a:t>
            </a:r>
          </a:p>
        </p:txBody>
      </p:sp>
      <p:sp>
        <p:nvSpPr>
          <p:cNvPr name="AutoShape 5" id="5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70709" y="1414707"/>
            <a:ext cx="8457054" cy="353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0"/>
              </a:lnSpc>
            </a:pPr>
          </a:p>
          <a:p>
            <a:pPr algn="l">
              <a:lnSpc>
                <a:spcPts val="3297"/>
              </a:lnSpc>
            </a:pPr>
            <a:r>
              <a:rPr lang="en-US" sz="3232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3232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STREAMLINED SIGNUP PROCESS</a:t>
            </a:r>
          </a:p>
          <a:p>
            <a:pPr algn="l" marL="634543" indent="-317272" lvl="1">
              <a:lnSpc>
                <a:spcPts val="3556"/>
              </a:lnSpc>
              <a:buFont typeface="Arial"/>
              <a:buChar char="•"/>
            </a:pP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3-FIELD</a:t>
            </a: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form (username, email, password) + mandatory 4-picture avatar selection</a:t>
            </a:r>
          </a:p>
          <a:p>
            <a:pPr algn="l" marL="634543" indent="-317272" lvl="1">
              <a:lnSpc>
                <a:spcPts val="3556"/>
              </a:lnSpc>
              <a:buFont typeface="Arial"/>
              <a:buChar char="•"/>
            </a:pP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Eye icon toggles password visibility </a:t>
            </a:r>
          </a:p>
          <a:p>
            <a:pPr algn="l" marL="634543" indent="-317272" lvl="1">
              <a:lnSpc>
                <a:spcPts val="3556"/>
              </a:lnSpc>
              <a:buFont typeface="Arial"/>
              <a:buChar char="•"/>
            </a:pP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eal-time clear and actionable errors</a:t>
            </a:r>
          </a:p>
          <a:p>
            <a:pPr algn="l" marL="634543" indent="-317272" lvl="1">
              <a:lnSpc>
                <a:spcPts val="3556"/>
              </a:lnSpc>
              <a:buFont typeface="Arial"/>
              <a:buChar char="•"/>
            </a:pPr>
            <a:r>
              <a:rPr lang="en-US" sz="2939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Success automatically saves to database + browser </a:t>
            </a:r>
          </a:p>
          <a:p>
            <a:pPr algn="ctr">
              <a:lnSpc>
                <a:spcPts val="183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727762" y="1405182"/>
            <a:ext cx="7689566" cy="273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</a:p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3300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INTELLIGENT FORM VALIDATION</a:t>
            </a:r>
          </a:p>
          <a:p>
            <a:pPr algn="l">
              <a:lnSpc>
                <a:spcPts val="2341"/>
              </a:lnSpc>
            </a:pP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PRECISE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format rules ensure strong username &amp; password standards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Explicit blocking of w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eak usernames </a:t>
            </a:r>
          </a:p>
          <a:p>
            <a:pPr algn="l" marL="647700" indent="-323850" lvl="1">
              <a:lnSpc>
                <a:spcPts val="3629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All checks are case-insensitive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1659" y="5035157"/>
            <a:ext cx="8457054" cy="362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3"/>
              </a:lnSpc>
            </a:pPr>
          </a:p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3300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FRICTIONLESS LOGIN EXPERIENCE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AUTO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-POPULATES ALL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signup details - no retyping ne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eded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Individual field loading with backup screens prevents blank pages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Smooth auto-redirect 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after s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uccessful registration</a:t>
            </a:r>
          </a:p>
          <a:p>
            <a:pPr algn="ctr">
              <a:lnSpc>
                <a:spcPts val="187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69734" y="4937673"/>
            <a:ext cx="7689566" cy="381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"/>
              </a:lnSpc>
            </a:pPr>
          </a:p>
          <a:p>
            <a:pPr algn="l">
              <a:lnSpc>
                <a:spcPts val="3366"/>
              </a:lnSpc>
            </a:pPr>
            <a:r>
              <a:rPr lang="en-US" sz="33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3300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ROBUST SECURITY &amp; PROTECTION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can't access private pages without login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Encrypted password storage 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Graceful error handling - no crash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es, always user-friendly</a:t>
            </a:r>
          </a:p>
          <a:p>
            <a:pPr algn="l" marL="647700" indent="-323850" lvl="1">
              <a:lnSpc>
                <a:spcPts val="3629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Works perfect</a:t>
            </a:r>
            <a:r>
              <a:rPr lang="en-US" sz="30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ly on phones, tablets, and desktops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2863" y="1307417"/>
            <a:ext cx="14783195" cy="8160722"/>
          </a:xfrm>
          <a:custGeom>
            <a:avLst/>
            <a:gdLst/>
            <a:ahLst/>
            <a:cxnLst/>
            <a:rect r="r" b="b" t="t" l="l"/>
            <a:pathLst>
              <a:path h="8160722" w="14783195">
                <a:moveTo>
                  <a:pt x="0" y="0"/>
                </a:moveTo>
                <a:lnTo>
                  <a:pt x="14783195" y="0"/>
                </a:lnTo>
                <a:lnTo>
                  <a:pt x="14783195" y="8160722"/>
                </a:lnTo>
                <a:lnTo>
                  <a:pt x="0" y="816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76" r="0" b="-147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37097" y="359575"/>
            <a:ext cx="9413805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SIGNUP PAGE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3627" y="1296831"/>
            <a:ext cx="14706156" cy="8206451"/>
          </a:xfrm>
          <a:custGeom>
            <a:avLst/>
            <a:gdLst/>
            <a:ahLst/>
            <a:cxnLst/>
            <a:rect r="r" b="b" t="t" l="l"/>
            <a:pathLst>
              <a:path h="8206451" w="14706156">
                <a:moveTo>
                  <a:pt x="0" y="0"/>
                </a:moveTo>
                <a:lnTo>
                  <a:pt x="14706157" y="0"/>
                </a:lnTo>
                <a:lnTo>
                  <a:pt x="14706157" y="8206451"/>
                </a:lnTo>
                <a:lnTo>
                  <a:pt x="0" y="8206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99" r="0" b="-6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37097" y="359575"/>
            <a:ext cx="9413805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LOGIN PAGE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26940" y="2401708"/>
            <a:ext cx="701717" cy="557959"/>
            <a:chOff x="0" y="0"/>
            <a:chExt cx="102221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2217" cy="812800"/>
            </a:xfrm>
            <a:custGeom>
              <a:avLst/>
              <a:gdLst/>
              <a:ahLst/>
              <a:cxnLst/>
              <a:rect r="r" b="b" t="t" l="l"/>
              <a:pathLst>
                <a:path h="812800" w="1022217">
                  <a:moveTo>
                    <a:pt x="1022217" y="406400"/>
                  </a:moveTo>
                  <a:lnTo>
                    <a:pt x="615817" y="0"/>
                  </a:lnTo>
                  <a:lnTo>
                    <a:pt x="61581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15817" y="609600"/>
                  </a:lnTo>
                  <a:lnTo>
                    <a:pt x="615817" y="812800"/>
                  </a:lnTo>
                  <a:lnTo>
                    <a:pt x="1022217" y="406400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92061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93176" y="634208"/>
            <a:ext cx="8581692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ANALYTICS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6755" y="1583945"/>
            <a:ext cx="7151137" cy="360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</a:p>
          <a:p>
            <a:pPr algn="l">
              <a:lnSpc>
                <a:spcPts val="2958"/>
              </a:lnSpc>
            </a:pPr>
            <a:r>
              <a:rPr lang="en-US" sz="29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       </a:t>
            </a:r>
            <a:r>
              <a:rPr lang="en-US" sz="2900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PURPOSE</a:t>
            </a:r>
          </a:p>
          <a:p>
            <a:pPr algn="l">
              <a:lnSpc>
                <a:spcPts val="3229"/>
              </a:lnSpc>
            </a:pPr>
          </a:p>
          <a:p>
            <a:pPr algn="just" marL="582930" indent="-291465" lvl="1">
              <a:lnSpc>
                <a:spcPts val="2754"/>
              </a:lnSpc>
              <a:buFont typeface="Arial"/>
              <a:buChar char="•"/>
            </a:pPr>
            <a:r>
              <a:rPr lang="en-US" sz="27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Visualizes expense and spending</a:t>
            </a:r>
          </a:p>
          <a:p>
            <a:pPr algn="just" marL="582930" indent="-291465" lvl="1">
              <a:lnSpc>
                <a:spcPts val="2754"/>
              </a:lnSpc>
              <a:buFont typeface="Arial"/>
              <a:buChar char="•"/>
            </a:pPr>
            <a:r>
              <a:rPr lang="en-US" sz="27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Provides quick financial insights and summaries.</a:t>
            </a:r>
          </a:p>
          <a:p>
            <a:pPr algn="just" marL="582930" indent="-291465" lvl="1">
              <a:lnSpc>
                <a:spcPts val="2754"/>
              </a:lnSpc>
              <a:buFont typeface="Arial"/>
              <a:buChar char="•"/>
            </a:pPr>
            <a:r>
              <a:rPr lang="en-US" sz="270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Helps identify patterns across time and categories.</a:t>
            </a:r>
          </a:p>
          <a:p>
            <a:pPr algn="l">
              <a:lnSpc>
                <a:spcPts val="3196"/>
              </a:lnSpc>
            </a:pPr>
          </a:p>
          <a:p>
            <a:pPr algn="ctr">
              <a:lnSpc>
                <a:spcPts val="2895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66755" y="4940954"/>
            <a:ext cx="7636852" cy="348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  <a:spcBef>
                <a:spcPct val="0"/>
              </a:spcBef>
            </a:pPr>
            <a:r>
              <a:rPr lang="en-US" b="true" sz="2900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   CORE FEAT</a:t>
            </a:r>
            <a:r>
              <a:rPr lang="en-US" b="true" sz="2900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URES</a:t>
            </a:r>
          </a:p>
          <a:p>
            <a:pPr algn="ctr">
              <a:lnSpc>
                <a:spcPts val="2760"/>
              </a:lnSpc>
            </a:pP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b="true" sz="2706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</a:t>
            </a: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Year and month based filtering.</a:t>
            </a: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KPI summary (total, average, transactions, categories).</a:t>
            </a: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Monthly expense trend visualization.</a:t>
            </a: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Category-wise expense distribution.</a:t>
            </a: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Category spending comparison.</a:t>
            </a:r>
          </a:p>
          <a:p>
            <a:pPr algn="l" marL="584258" indent="-292129" lvl="1">
              <a:lnSpc>
                <a:spcPts val="2760"/>
              </a:lnSpc>
              <a:buFont typeface="Arial"/>
              <a:buChar char="•"/>
            </a:pPr>
            <a:r>
              <a:rPr lang="en-US" sz="2706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Daily spending pattern analysis.</a:t>
            </a: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092393" y="2489583"/>
            <a:ext cx="6822645" cy="486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58"/>
              </a:lnSpc>
              <a:spcBef>
                <a:spcPct val="0"/>
              </a:spcBef>
            </a:pPr>
            <a:r>
              <a:rPr lang="en-US" b="true" sz="2900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</a:t>
            </a:r>
            <a:r>
              <a:rPr lang="en-US" b="true" sz="2900" strike="noStrike" u="non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TECHNICAL IMPLEMENTATION</a:t>
            </a:r>
          </a:p>
          <a:p>
            <a:pPr algn="ctr" marL="0" indent="0" lvl="0">
              <a:lnSpc>
                <a:spcPts val="2809"/>
              </a:lnSpc>
              <a:spcBef>
                <a:spcPct val="0"/>
              </a:spcBef>
            </a:pP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Build with React Functional Components and Hooks.</a:t>
            </a: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Data managed using Redux state management.</a:t>
            </a: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Memoization used for performance optimization.</a:t>
            </a: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Dynamic calculations and aggregations from raw data.</a:t>
            </a: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Interactive charts rendered using Recharts</a:t>
            </a:r>
          </a:p>
          <a:p>
            <a:pPr algn="l" marL="583545" indent="-291773" lvl="1">
              <a:lnSpc>
                <a:spcPts val="2756"/>
              </a:lnSpc>
              <a:buFont typeface="Arial"/>
              <a:buChar char="•"/>
            </a:pPr>
            <a:r>
              <a:rPr lang="en-US" sz="2702" strike="noStrike" u="none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Graceful handling of loading and error states.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25259" y="1833143"/>
            <a:ext cx="715055" cy="568565"/>
            <a:chOff x="0" y="0"/>
            <a:chExt cx="102221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2217" cy="812800"/>
            </a:xfrm>
            <a:custGeom>
              <a:avLst/>
              <a:gdLst/>
              <a:ahLst/>
              <a:cxnLst/>
              <a:rect r="r" b="b" t="t" l="l"/>
              <a:pathLst>
                <a:path h="812800" w="1022217">
                  <a:moveTo>
                    <a:pt x="1022217" y="406400"/>
                  </a:moveTo>
                  <a:lnTo>
                    <a:pt x="615817" y="0"/>
                  </a:lnTo>
                  <a:lnTo>
                    <a:pt x="61581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15817" y="609600"/>
                  </a:lnTo>
                  <a:lnTo>
                    <a:pt x="615817" y="812800"/>
                  </a:lnTo>
                  <a:lnTo>
                    <a:pt x="1022217" y="406400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92061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25259" y="4858694"/>
            <a:ext cx="716371" cy="569611"/>
            <a:chOff x="0" y="0"/>
            <a:chExt cx="1022217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2217" cy="812800"/>
            </a:xfrm>
            <a:custGeom>
              <a:avLst/>
              <a:gdLst/>
              <a:ahLst/>
              <a:cxnLst/>
              <a:rect r="r" b="b" t="t" l="l"/>
              <a:pathLst>
                <a:path h="812800" w="1022217">
                  <a:moveTo>
                    <a:pt x="1022217" y="406400"/>
                  </a:moveTo>
                  <a:lnTo>
                    <a:pt x="615817" y="0"/>
                  </a:lnTo>
                  <a:lnTo>
                    <a:pt x="61581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15817" y="609600"/>
                  </a:lnTo>
                  <a:lnTo>
                    <a:pt x="615817" y="812800"/>
                  </a:lnTo>
                  <a:lnTo>
                    <a:pt x="1022217" y="406400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92061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87924" y="1028700"/>
            <a:ext cx="14512153" cy="8229600"/>
          </a:xfrm>
          <a:custGeom>
            <a:avLst/>
            <a:gdLst/>
            <a:ahLst/>
            <a:cxnLst/>
            <a:rect r="r" b="b" t="t" l="l"/>
            <a:pathLst>
              <a:path h="8229600" w="14512153">
                <a:moveTo>
                  <a:pt x="0" y="0"/>
                </a:moveTo>
                <a:lnTo>
                  <a:pt x="14512152" y="0"/>
                </a:lnTo>
                <a:lnTo>
                  <a:pt x="145121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1918" y="191320"/>
            <a:ext cx="14669615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DASHBOARD</a:t>
            </a: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PAGE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0" y="3701131"/>
            <a:ext cx="458361" cy="528260"/>
            <a:chOff x="0" y="0"/>
            <a:chExt cx="70525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5252" cy="812800"/>
            </a:xfrm>
            <a:custGeom>
              <a:avLst/>
              <a:gdLst/>
              <a:ahLst/>
              <a:cxnLst/>
              <a:rect r="r" b="b" t="t" l="l"/>
              <a:pathLst>
                <a:path h="812800" w="705252">
                  <a:moveTo>
                    <a:pt x="705252" y="406400"/>
                  </a:moveTo>
                  <a:lnTo>
                    <a:pt x="298852" y="0"/>
                  </a:lnTo>
                  <a:lnTo>
                    <a:pt x="29885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98852" y="609600"/>
                  </a:lnTo>
                  <a:lnTo>
                    <a:pt x="298852" y="812800"/>
                  </a:lnTo>
                  <a:lnTo>
                    <a:pt x="705252" y="406400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6036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54537" y="5564143"/>
            <a:ext cx="443986" cy="480923"/>
            <a:chOff x="0" y="0"/>
            <a:chExt cx="910094" cy="9858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0094" cy="985807"/>
            </a:xfrm>
            <a:custGeom>
              <a:avLst/>
              <a:gdLst/>
              <a:ahLst/>
              <a:cxnLst/>
              <a:rect r="r" b="b" t="t" l="l"/>
              <a:pathLst>
                <a:path h="985807" w="910094">
                  <a:moveTo>
                    <a:pt x="910094" y="492904"/>
                  </a:moveTo>
                  <a:lnTo>
                    <a:pt x="503694" y="0"/>
                  </a:lnTo>
                  <a:lnTo>
                    <a:pt x="503694" y="203200"/>
                  </a:lnTo>
                  <a:lnTo>
                    <a:pt x="0" y="203200"/>
                  </a:lnTo>
                  <a:lnTo>
                    <a:pt x="0" y="782607"/>
                  </a:lnTo>
                  <a:lnTo>
                    <a:pt x="503694" y="782607"/>
                  </a:lnTo>
                  <a:lnTo>
                    <a:pt x="503694" y="985807"/>
                  </a:lnTo>
                  <a:lnTo>
                    <a:pt x="910094" y="492904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808494" cy="61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54537" y="2238401"/>
            <a:ext cx="443986" cy="4439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93176" y="634208"/>
            <a:ext cx="8581692" cy="130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CATEGORY MANAGEMENT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803" y="1974895"/>
            <a:ext cx="6569125" cy="308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</a:p>
          <a:p>
            <a:pPr algn="l">
              <a:lnSpc>
                <a:spcPts val="3257"/>
              </a:lnSpc>
            </a:pPr>
            <a:r>
              <a:rPr lang="en-US" sz="3193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    </a:t>
            </a:r>
            <a:r>
              <a:rPr lang="en-US" sz="3193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PURPOSE </a:t>
            </a:r>
          </a:p>
          <a:p>
            <a:pPr algn="l" marL="538333" indent="-269166" lvl="1">
              <a:lnSpc>
                <a:spcPts val="3017"/>
              </a:lnSpc>
              <a:buFont typeface="Arial"/>
              <a:buChar char="•"/>
            </a:pPr>
            <a:r>
              <a:rPr lang="en-US" sz="2493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Organizes expenses into structured   groups</a:t>
            </a:r>
          </a:p>
          <a:p>
            <a:pPr algn="l" marL="538333" indent="-269166" lvl="1">
              <a:lnSpc>
                <a:spcPts val="3017"/>
              </a:lnSpc>
              <a:buFont typeface="Arial"/>
              <a:buChar char="•"/>
            </a:pPr>
            <a:r>
              <a:rPr lang="en-US" sz="2493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Im</a:t>
            </a:r>
            <a:r>
              <a:rPr lang="en-US" sz="2493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proves expense tracking clarity</a:t>
            </a:r>
          </a:p>
          <a:p>
            <a:pPr algn="l" marL="581512" indent="-290756" lvl="1">
              <a:lnSpc>
                <a:spcPts val="3259"/>
              </a:lnSpc>
              <a:buFont typeface="Arial"/>
              <a:buChar char="•"/>
            </a:pPr>
            <a:r>
              <a:rPr lang="en-US" sz="2693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Enables category-wise reporting and analysis.</a:t>
            </a:r>
          </a:p>
          <a:p>
            <a:pPr algn="ctr">
              <a:lnSpc>
                <a:spcPts val="295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35107" y="5602243"/>
            <a:ext cx="6338515" cy="2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31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   </a:t>
            </a:r>
            <a:r>
              <a:rPr lang="en-US" sz="3108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CORE FEATURES</a:t>
            </a:r>
          </a:p>
          <a:p>
            <a:pPr algn="l" marL="541521" indent="-270760" lvl="1">
              <a:lnSpc>
                <a:spcPts val="3009"/>
              </a:lnSpc>
              <a:buFont typeface="Arial"/>
              <a:buChar char="•"/>
            </a:pPr>
            <a:r>
              <a:rPr lang="en-US" sz="25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Create new categories</a:t>
            </a:r>
          </a:p>
          <a:p>
            <a:pPr algn="l" marL="541521" indent="-270760" lvl="1">
              <a:lnSpc>
                <a:spcPts val="3009"/>
              </a:lnSpc>
              <a:buFont typeface="Arial"/>
              <a:buChar char="•"/>
            </a:pPr>
            <a:r>
              <a:rPr lang="en-US" sz="25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Edit existing categories</a:t>
            </a:r>
          </a:p>
          <a:p>
            <a:pPr algn="l" marL="541521" indent="-270760" lvl="1">
              <a:lnSpc>
                <a:spcPts val="3009"/>
              </a:lnSpc>
              <a:buFont typeface="Arial"/>
              <a:buChar char="•"/>
            </a:pPr>
            <a:r>
              <a:rPr lang="en-US" sz="25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Delete categories (with confirmation)</a:t>
            </a:r>
          </a:p>
          <a:p>
            <a:pPr algn="l" marL="541521" indent="-270760" lvl="1">
              <a:lnSpc>
                <a:spcPts val="3009"/>
              </a:lnSpc>
              <a:buFont typeface="Arial"/>
              <a:buChar char="•"/>
            </a:pPr>
            <a:r>
              <a:rPr lang="en-US" sz="25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Search categories instantly</a:t>
            </a:r>
          </a:p>
          <a:p>
            <a:pPr algn="l" marL="541521" indent="-270760" lvl="1">
              <a:lnSpc>
                <a:spcPts val="3009"/>
              </a:lnSpc>
              <a:buFont typeface="Arial"/>
              <a:buChar char="•"/>
            </a:pPr>
            <a:r>
              <a:rPr lang="en-US" sz="2508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Assign icons and colors dynamically</a:t>
            </a:r>
          </a:p>
          <a:p>
            <a:pPr algn="ctr">
              <a:lnSpc>
                <a:spcPts val="288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864250" y="3502841"/>
            <a:ext cx="7586958" cy="384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</a:p>
          <a:p>
            <a:pPr algn="l">
              <a:lnSpc>
                <a:spcPts val="2939"/>
              </a:lnSpc>
            </a:pPr>
            <a:r>
              <a:rPr lang="en-US" sz="2881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       </a:t>
            </a:r>
            <a:r>
              <a:rPr lang="en-US" sz="2881" b="true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TECHNICAL IMPLEMENTATION</a:t>
            </a:r>
          </a:p>
          <a:p>
            <a:pPr algn="l" marL="528972" indent="-264486" lvl="1">
              <a:lnSpc>
                <a:spcPts val="3356"/>
              </a:lnSpc>
              <a:buFont typeface="Arial"/>
              <a:buChar char="•"/>
            </a:pPr>
            <a:r>
              <a:rPr lang="en-US" sz="245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Built using React Functional Components with Hooks for efficient state management.</a:t>
            </a:r>
          </a:p>
          <a:p>
            <a:pPr algn="l" marL="528972" indent="-264486" lvl="1">
              <a:lnSpc>
                <a:spcPts val="3356"/>
              </a:lnSpc>
              <a:buFont typeface="Arial"/>
              <a:buChar char="•"/>
            </a:pPr>
            <a:r>
              <a:rPr lang="en-US" sz="245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Implemented live search and conditional rendering for dynamic UI updates</a:t>
            </a:r>
          </a:p>
          <a:p>
            <a:pPr algn="l" marL="528972" indent="-264486" lvl="1">
              <a:lnSpc>
                <a:spcPts val="3356"/>
              </a:lnSpc>
              <a:buFont typeface="Arial"/>
              <a:buChar char="•"/>
            </a:pPr>
            <a:r>
              <a:rPr lang="en-US" sz="2450">
                <a:solidFill>
                  <a:srgbClr val="40359F"/>
                </a:solidFill>
                <a:latin typeface="Work Sans"/>
                <a:ea typeface="Work Sans"/>
                <a:cs typeface="Work Sans"/>
                <a:sym typeface="Work Sans"/>
              </a:rPr>
              <a:t>Applied core concepts like state immutability, reusable modal, and form validation</a:t>
            </a:r>
          </a:p>
          <a:p>
            <a:pPr algn="l">
              <a:lnSpc>
                <a:spcPts val="2479"/>
              </a:lnSpc>
            </a:pPr>
          </a:p>
          <a:p>
            <a:pPr algn="ctr">
              <a:lnSpc>
                <a:spcPts val="26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0936" y="1344349"/>
            <a:ext cx="14828470" cy="8153690"/>
          </a:xfrm>
          <a:custGeom>
            <a:avLst/>
            <a:gdLst/>
            <a:ahLst/>
            <a:cxnLst/>
            <a:rect r="r" b="b" t="t" l="l"/>
            <a:pathLst>
              <a:path h="8153690" w="14828470">
                <a:moveTo>
                  <a:pt x="0" y="0"/>
                </a:moveTo>
                <a:lnTo>
                  <a:pt x="14828470" y="0"/>
                </a:lnTo>
                <a:lnTo>
                  <a:pt x="14828470" y="8153690"/>
                </a:lnTo>
                <a:lnTo>
                  <a:pt x="0" y="815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51" r="0" b="-145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1918" y="191320"/>
            <a:ext cx="14669615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CATEGORIES</a:t>
            </a: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PAGE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88198" y="-1269106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3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3" y="0"/>
                </a:lnTo>
                <a:lnTo>
                  <a:pt x="3871653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6602" y="5686364"/>
            <a:ext cx="14280543" cy="4189474"/>
          </a:xfrm>
          <a:custGeom>
            <a:avLst/>
            <a:gdLst/>
            <a:ahLst/>
            <a:cxnLst/>
            <a:rect r="r" b="b" t="t" l="l"/>
            <a:pathLst>
              <a:path h="4189474" w="14280543">
                <a:moveTo>
                  <a:pt x="0" y="0"/>
                </a:moveTo>
                <a:lnTo>
                  <a:pt x="14280543" y="0"/>
                </a:lnTo>
                <a:lnTo>
                  <a:pt x="14280543" y="4189474"/>
                </a:lnTo>
                <a:lnTo>
                  <a:pt x="0" y="4189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34" r="0" b="-28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9857" y="2040500"/>
            <a:ext cx="8205833" cy="340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4"/>
              </a:lnSpc>
            </a:pPr>
            <a:r>
              <a:rPr lang="en-US" b="true" sz="3298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   UI/UX</a:t>
            </a:r>
            <a:r>
              <a:rPr lang="en-US" b="true" sz="3298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Design</a:t>
            </a:r>
            <a:r>
              <a:rPr lang="en-US" b="true" sz="3298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</a:p>
          <a:p>
            <a:pPr algn="l" marL="647438" indent="-323719" lvl="1">
              <a:lnSpc>
                <a:spcPts val="3358"/>
              </a:lnSpc>
              <a:buFont typeface="Arial"/>
              <a:buChar char="•"/>
            </a:pPr>
            <a:r>
              <a:rPr lang="en-US" sz="299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Complete dark theme interface with Tailwind CSS </a:t>
            </a:r>
          </a:p>
          <a:p>
            <a:pPr algn="l" marL="647438" indent="-323719" lvl="1">
              <a:lnSpc>
                <a:spcPts val="3358"/>
              </a:lnSpc>
              <a:buFont typeface="Arial"/>
              <a:buChar char="•"/>
            </a:pPr>
            <a:r>
              <a:rPr lang="en-US" sz="299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Responsive table layout &amp; gradient summary cards </a:t>
            </a:r>
          </a:p>
          <a:p>
            <a:pPr algn="l" marL="647438" indent="-323719" lvl="1">
              <a:lnSpc>
                <a:spcPts val="3358"/>
              </a:lnSpc>
              <a:buFont typeface="Arial"/>
              <a:buChar char="•"/>
            </a:pPr>
            <a:r>
              <a:rPr lang="en-US" sz="299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Modal forms (Add/Edit) with backdrop effects </a:t>
            </a:r>
          </a:p>
          <a:p>
            <a:pPr algn="l" marL="647438" indent="-323719" lvl="1">
              <a:lnSpc>
                <a:spcPts val="3358"/>
              </a:lnSpc>
              <a:buFont typeface="Arial"/>
              <a:buChar char="•"/>
            </a:pPr>
            <a:r>
              <a:rPr lang="en-US" sz="299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Loading states &amp; error handling displays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5689" y="2533510"/>
            <a:ext cx="7738104" cy="214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b="true" sz="3300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   Search &amp;</a:t>
            </a:r>
            <a:r>
              <a:rPr lang="en-US" b="true" sz="3300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Filter</a:t>
            </a:r>
            <a:r>
              <a:rPr lang="en-US" b="true" sz="3300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F</a:t>
            </a:r>
            <a:r>
              <a:rPr lang="en-US" b="true" sz="3300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eatures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Debounced search by title (500ms)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Category filter dropdown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Sort options: Amount (High/Low), Date (Newest/Oldest)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3176" y="634208"/>
            <a:ext cx="8581692" cy="1302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EXPENSES MANAGEMENT INTERFACE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8720" y="977247"/>
            <a:ext cx="14650561" cy="8332506"/>
          </a:xfrm>
          <a:custGeom>
            <a:avLst/>
            <a:gdLst/>
            <a:ahLst/>
            <a:cxnLst/>
            <a:rect r="r" b="b" t="t" l="l"/>
            <a:pathLst>
              <a:path h="8332506" w="14650561">
                <a:moveTo>
                  <a:pt x="0" y="0"/>
                </a:moveTo>
                <a:lnTo>
                  <a:pt x="14650560" y="0"/>
                </a:lnTo>
                <a:lnTo>
                  <a:pt x="14650560" y="8332506"/>
                </a:lnTo>
                <a:lnTo>
                  <a:pt x="0" y="8332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1918" y="191320"/>
            <a:ext cx="14669615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EXPENSES</a:t>
            </a: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PAGE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158" y="2630665"/>
            <a:ext cx="7136341" cy="5719540"/>
          </a:xfrm>
          <a:custGeom>
            <a:avLst/>
            <a:gdLst/>
            <a:ahLst/>
            <a:cxnLst/>
            <a:rect r="r" b="b" t="t" l="l"/>
            <a:pathLst>
              <a:path h="5719540" w="7136341">
                <a:moveTo>
                  <a:pt x="0" y="0"/>
                </a:moveTo>
                <a:lnTo>
                  <a:pt x="7136341" y="0"/>
                </a:lnTo>
                <a:lnTo>
                  <a:pt x="7136341" y="5719540"/>
                </a:lnTo>
                <a:lnTo>
                  <a:pt x="0" y="5719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003" t="-7112" r="-31612" b="-1647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6725" y="2630665"/>
            <a:ext cx="6553651" cy="5719540"/>
          </a:xfrm>
          <a:custGeom>
            <a:avLst/>
            <a:gdLst/>
            <a:ahLst/>
            <a:cxnLst/>
            <a:rect r="r" b="b" t="t" l="l"/>
            <a:pathLst>
              <a:path h="5719540" w="6553651">
                <a:moveTo>
                  <a:pt x="0" y="0"/>
                </a:moveTo>
                <a:lnTo>
                  <a:pt x="6553651" y="0"/>
                </a:lnTo>
                <a:lnTo>
                  <a:pt x="6553651" y="5719540"/>
                </a:lnTo>
                <a:lnTo>
                  <a:pt x="0" y="571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23" t="-1022" r="-18904" b="-102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1918" y="890182"/>
            <a:ext cx="14669615" cy="73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1"/>
              </a:lnSpc>
            </a:pPr>
            <a:r>
              <a:rPr lang="en-US" b="true" sz="53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EXPENSES</a:t>
            </a:r>
            <a:r>
              <a:rPr lang="en-US" b="true" sz="53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PAGE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4158" y="8855501"/>
            <a:ext cx="7136341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EDIT EXPENSE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75380" y="8855501"/>
            <a:ext cx="7136341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ADD EXPENSE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28921" y="1570616"/>
            <a:ext cx="593979" cy="520013"/>
            <a:chOff x="0" y="0"/>
            <a:chExt cx="812800" cy="7115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586"/>
            </a:xfrm>
            <a:custGeom>
              <a:avLst/>
              <a:gdLst/>
              <a:ahLst/>
              <a:cxnLst/>
              <a:rect r="r" b="b" t="t" l="l"/>
              <a:pathLst>
                <a:path h="711586" w="812800">
                  <a:moveTo>
                    <a:pt x="812800" y="35579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08386"/>
                  </a:lnTo>
                  <a:lnTo>
                    <a:pt x="406400" y="508386"/>
                  </a:lnTo>
                  <a:lnTo>
                    <a:pt x="406400" y="711586"/>
                  </a:lnTo>
                  <a:lnTo>
                    <a:pt x="812800" y="355793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5100"/>
              <a:ext cx="711200" cy="34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59982" y="359575"/>
            <a:ext cx="9413805" cy="66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REPORTS</a:t>
            </a:r>
            <a:r>
              <a:rPr lang="en-US" b="true" sz="4893">
                <a:solidFill>
                  <a:srgbClr val="40359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GENERATION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2773" y="1599191"/>
            <a:ext cx="6094418" cy="337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3300" b="tru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Purpose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Provide a consolidated view of all expense transactions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Enable users to analyze spending patterns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Offer summarized insights for better financial tracking</a:t>
            </a:r>
          </a:p>
          <a:p>
            <a:pPr algn="l">
              <a:lnSpc>
                <a:spcPts val="309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870476" y="1599191"/>
            <a:ext cx="7388824" cy="627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3300" b="tru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Key Features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Expense Summary Dashboard - Displays t</a:t>
            </a: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otal transactions, total amount spent, and latest transaction date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Smart Search &amp; Advanced Filters - Filter by category, month, year, and amount range to quickly find specific expenses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Sorting Options - Sort expenses by date (Ascending / Descending).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CSV Download - Export expense data for reporting or external use</a:t>
            </a:r>
          </a:p>
          <a:p>
            <a:pPr algn="l">
              <a:lnSpc>
                <a:spcPts val="3091"/>
              </a:lnSpc>
            </a:pPr>
          </a:p>
          <a:p>
            <a:pPr algn="ctr">
              <a:lnSpc>
                <a:spcPts val="309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22900" y="5001825"/>
            <a:ext cx="7207227" cy="379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3300" b="tru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Performance Optimizati</a:t>
            </a:r>
            <a:r>
              <a:rPr lang="en-US" b="true" sz="3300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on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Impr</a:t>
            </a: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oved application speed and overall performance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Enha</a:t>
            </a: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nced page loading experience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Opti</a:t>
            </a: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mized data processing for better efficiency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Improved search responsiveness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Op</a:t>
            </a:r>
            <a:r>
              <a:rPr lang="en-US" sz="3000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timized rendering for large datasets</a:t>
            </a:r>
          </a:p>
          <a:p>
            <a:pPr algn="ctr">
              <a:lnSpc>
                <a:spcPts val="3091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172906" y="1570616"/>
            <a:ext cx="593979" cy="520013"/>
            <a:chOff x="0" y="0"/>
            <a:chExt cx="812800" cy="7115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586"/>
            </a:xfrm>
            <a:custGeom>
              <a:avLst/>
              <a:gdLst/>
              <a:ahLst/>
              <a:cxnLst/>
              <a:rect r="r" b="b" t="t" l="l"/>
              <a:pathLst>
                <a:path h="711586" w="812800">
                  <a:moveTo>
                    <a:pt x="812800" y="35579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08386"/>
                  </a:lnTo>
                  <a:lnTo>
                    <a:pt x="406400" y="508386"/>
                  </a:lnTo>
                  <a:lnTo>
                    <a:pt x="406400" y="711586"/>
                  </a:lnTo>
                  <a:lnTo>
                    <a:pt x="812800" y="355793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34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852" y="4973250"/>
            <a:ext cx="593979" cy="520013"/>
            <a:chOff x="0" y="0"/>
            <a:chExt cx="812800" cy="7115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586"/>
            </a:xfrm>
            <a:custGeom>
              <a:avLst/>
              <a:gdLst/>
              <a:ahLst/>
              <a:cxnLst/>
              <a:rect r="r" b="b" t="t" l="l"/>
              <a:pathLst>
                <a:path h="711586" w="812800">
                  <a:moveTo>
                    <a:pt x="812800" y="35579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08386"/>
                  </a:lnTo>
                  <a:lnTo>
                    <a:pt x="406400" y="508386"/>
                  </a:lnTo>
                  <a:lnTo>
                    <a:pt x="406400" y="711586"/>
                  </a:lnTo>
                  <a:lnTo>
                    <a:pt x="812800" y="355793"/>
                  </a:lnTo>
                  <a:close/>
                </a:path>
              </a:pathLst>
            </a:custGeom>
            <a:solidFill>
              <a:srgbClr val="8B7D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711200" cy="34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0517" y="1401563"/>
            <a:ext cx="15470541" cy="7483874"/>
          </a:xfrm>
          <a:custGeom>
            <a:avLst/>
            <a:gdLst/>
            <a:ahLst/>
            <a:cxnLst/>
            <a:rect r="r" b="b" t="t" l="l"/>
            <a:pathLst>
              <a:path h="7483874" w="15470541">
                <a:moveTo>
                  <a:pt x="0" y="0"/>
                </a:moveTo>
                <a:lnTo>
                  <a:pt x="15470541" y="0"/>
                </a:lnTo>
                <a:lnTo>
                  <a:pt x="15470541" y="7483874"/>
                </a:lnTo>
                <a:lnTo>
                  <a:pt x="0" y="7483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41443" y="191320"/>
            <a:ext cx="14669615" cy="6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REPORTS</a:t>
            </a:r>
            <a:r>
              <a:rPr lang="en-US" b="true" sz="46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PAGE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07419" y="732238"/>
            <a:ext cx="11873162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PERFORMANCE OPTIMIZATION</a:t>
            </a:r>
          </a:p>
        </p:txBody>
      </p:sp>
      <p:sp>
        <p:nvSpPr>
          <p:cNvPr name="AutoShape 5" id="5"/>
          <p:cNvSpPr/>
          <p:nvPr/>
        </p:nvSpPr>
        <p:spPr>
          <a:xfrm>
            <a:off x="3595372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8391" y="2082602"/>
            <a:ext cx="6776149" cy="17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0"/>
              </a:lnSpc>
            </a:pPr>
            <a:r>
              <a:rPr lang="en-US" b="true" sz="3295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1.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De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bou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ci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ng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Search input debounced to 500ms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Reduces unnecessary API calls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Improves user experience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7186" y="1873052"/>
            <a:ext cx="6776149" cy="214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0"/>
              </a:lnSpc>
            </a:pPr>
            <a:r>
              <a:rPr lang="en-US" b="true" sz="3295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2.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Memoi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zatio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useMemo for expensive calculations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React.memo for component optimization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Memoized Redux selectors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8391" y="4295441"/>
            <a:ext cx="6776149" cy="17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0"/>
              </a:lnSpc>
            </a:pPr>
            <a:r>
              <a:rPr lang="en-US" b="true" sz="3295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3.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Redux Optimization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Normalized state structure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Selective re-rendering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Efficient state updates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7186" y="4446657"/>
            <a:ext cx="6776149" cy="17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0"/>
              </a:lnSpc>
            </a:pPr>
            <a:r>
              <a:rPr lang="en-US" b="true" sz="3295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4.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Code Splitting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Lazy loading components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Dynamic imports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Reduced initial bundle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8391" y="6508620"/>
            <a:ext cx="7811668" cy="17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0"/>
              </a:lnSpc>
            </a:pPr>
            <a:r>
              <a:rPr lang="en-US" b="true" sz="3295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5.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Other Optimizations</a:t>
            </a:r>
            <a:r>
              <a:rPr lang="en-US" b="true" sz="32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Throttling for scroll events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Minimal re-renders  </a:t>
            </a:r>
          </a:p>
          <a:p>
            <a:pPr algn="l" marL="0" indent="0" lvl="0">
              <a:lnSpc>
                <a:spcPts val="3354"/>
              </a:lnSpc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• Efficient list rendering with keys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5372" y="770270"/>
            <a:ext cx="11778025" cy="58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b="true" sz="4281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ADDITIONAL FEATURES IMPLEMENTED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71048" y="2234323"/>
            <a:ext cx="14288252" cy="644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43"/>
              </a:lnSpc>
            </a:pPr>
            <a:r>
              <a:rPr lang="en-US" sz="3788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ange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fil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teri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ng (m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/max)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Mul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ple sor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opt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(am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 &amp;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)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Rea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-t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otal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lc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lat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spons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ve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mod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Del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rmatio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d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alog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Loadin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 sp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nner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Error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ss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ag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ng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Clean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and mode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rn UI design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Dark theme interface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Icons for better UX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Form vali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dation </a:t>
            </a:r>
          </a:p>
          <a:p>
            <a:pPr algn="l" marL="0" indent="0" lvl="0">
              <a:lnSpc>
                <a:spcPts val="4243"/>
              </a:lnSpc>
            </a:pP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✓ 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to-c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r</a:t>
            </a:r>
            <a:r>
              <a:rPr lang="en-US" sz="3788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ange apply</a:t>
            </a:r>
          </a:p>
        </p:txBody>
      </p:sp>
      <p:sp>
        <p:nvSpPr>
          <p:cNvPr name="AutoShape 6" id="6"/>
          <p:cNvSpPr/>
          <p:nvPr/>
        </p:nvSpPr>
        <p:spPr>
          <a:xfrm>
            <a:off x="3814213" y="9554721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28771" y="732238"/>
            <a:ext cx="9413805" cy="66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b="true" sz="48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GROUP TAKEAWAYS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9412" y="1879645"/>
            <a:ext cx="14389176" cy="638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Full-Stack Integration: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Connected React frontend with JSON Server  backend for seamless data flow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Redux Mastery: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Implemented Redux Toolkit for complex state  management across modules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Optimization: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Applied debouncing, memoization, and  throttling techniques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UI/UX Development: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Created responsive, user-friendly interfaces  using Tailwind CSS and React components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Collaboration: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Learned to divide work, integrate modules,  and deliver cohesive solution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4035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Problem Solving:</a:t>
            </a:r>
            <a:r>
              <a:rPr lang="en-US" sz="3000">
                <a:solidFill>
                  <a:srgbClr val="40359F"/>
                </a:solidFill>
                <a:latin typeface="Canva Sans"/>
                <a:ea typeface="Canva Sans"/>
                <a:cs typeface="Canva Sans"/>
                <a:sym typeface="Canva Sans"/>
              </a:rPr>
              <a:t> Translated business requirements into  technical features</a:t>
            </a:r>
          </a:p>
        </p:txBody>
      </p:sp>
      <p:sp>
        <p:nvSpPr>
          <p:cNvPr name="AutoShape 6" id="6"/>
          <p:cNvSpPr/>
          <p:nvPr/>
        </p:nvSpPr>
        <p:spPr>
          <a:xfrm>
            <a:off x="3814213" y="9554721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5372" y="476427"/>
            <a:ext cx="11097256" cy="81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8"/>
              </a:lnSpc>
            </a:pPr>
            <a:r>
              <a:rPr lang="en-US" b="true" sz="6027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70648" y="1642750"/>
            <a:ext cx="13167627" cy="670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Succ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essfu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lly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eve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lo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fully fun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ti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onal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Expense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Tra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k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 wit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cat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gory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ma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ageme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 </a:t>
            </a:r>
          </a:p>
          <a:p>
            <a:pPr algn="l">
              <a:lnSpc>
                <a:spcPts val="3354"/>
              </a:lnSpc>
            </a:pPr>
          </a:p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Imp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emen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m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od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u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la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r a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rchit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ct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u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re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w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 tw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penden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work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 on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eparate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f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eat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 </a:t>
            </a:r>
          </a:p>
          <a:p>
            <a:pPr algn="l">
              <a:lnSpc>
                <a:spcPts val="3354"/>
              </a:lnSpc>
            </a:pPr>
          </a:p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grated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Re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du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x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for eff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 state management across the  appli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 </a:t>
            </a:r>
          </a:p>
          <a:p>
            <a:pPr algn="l">
              <a:lnSpc>
                <a:spcPts val="3354"/>
              </a:lnSpc>
            </a:pPr>
          </a:p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App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ied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perf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or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manc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 opt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i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m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iz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a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tion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chniq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fo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 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mooth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us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er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experien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</a:p>
          <a:p>
            <a:pPr algn="l">
              <a:lnSpc>
                <a:spcPts val="3354"/>
              </a:lnSpc>
            </a:pPr>
          </a:p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Strengthened understanding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of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com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on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en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 l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i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f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ecycle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 </a:t>
            </a:r>
            <a:r>
              <a:rPr lang="en-US" b="true" sz="2995" strike="noStrike" u="none">
                <a:solidFill>
                  <a:srgbClr val="40359F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hooks, state management, and API integration</a:t>
            </a:r>
          </a:p>
          <a:p>
            <a:pPr algn="l">
              <a:lnSpc>
                <a:spcPts val="3354"/>
              </a:lnSpc>
            </a:pPr>
          </a:p>
          <a:p>
            <a:pPr algn="l" marL="646636" indent="-323318" lvl="1">
              <a:lnSpc>
                <a:spcPts val="3354"/>
              </a:lnSpc>
              <a:buFont typeface="Arial"/>
              <a:buChar char="•"/>
            </a:pP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Successfully integrated concepts from th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 tr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ining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progr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m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o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cohe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s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iv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,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r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ea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l-world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 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proje</a:t>
            </a:r>
            <a:r>
              <a:rPr lang="en-US" sz="2995" strike="noStrike" u="none">
                <a:solidFill>
                  <a:srgbClr val="40359F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ct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07165">
            <a:off x="15656849" y="52641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0" y="0"/>
                </a:moveTo>
                <a:lnTo>
                  <a:pt x="3871652" y="0"/>
                </a:lnTo>
                <a:lnTo>
                  <a:pt x="387165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1607165">
            <a:off x="-1240501" y="-1149305"/>
            <a:ext cx="3871653" cy="6172200"/>
          </a:xfrm>
          <a:custGeom>
            <a:avLst/>
            <a:gdLst/>
            <a:ahLst/>
            <a:cxnLst/>
            <a:rect r="r" b="b" t="t" l="l"/>
            <a:pathLst>
              <a:path h="6172200" w="3871653">
                <a:moveTo>
                  <a:pt x="3871652" y="6172200"/>
                </a:moveTo>
                <a:lnTo>
                  <a:pt x="0" y="6172200"/>
                </a:lnTo>
                <a:lnTo>
                  <a:pt x="0" y="0"/>
                </a:lnTo>
                <a:lnTo>
                  <a:pt x="3871652" y="0"/>
                </a:lnTo>
                <a:lnTo>
                  <a:pt x="3871652" y="61722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66215" y="3107494"/>
            <a:ext cx="10955570" cy="344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53"/>
              </a:lnSpc>
            </a:pPr>
            <a:r>
              <a:rPr lang="en-US" b="true" sz="12993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THANK</a:t>
            </a:r>
          </a:p>
          <a:p>
            <a:pPr algn="ctr">
              <a:lnSpc>
                <a:spcPts val="13253"/>
              </a:lnSpc>
            </a:pPr>
            <a:r>
              <a:rPr lang="en-US" b="true" sz="12993" strike="noStrike" u="none">
                <a:solidFill>
                  <a:srgbClr val="40359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YOU</a:t>
            </a:r>
          </a:p>
        </p:txBody>
      </p:sp>
      <p:sp>
        <p:nvSpPr>
          <p:cNvPr name="AutoShape 5" id="5"/>
          <p:cNvSpPr/>
          <p:nvPr/>
        </p:nvSpPr>
        <p:spPr>
          <a:xfrm>
            <a:off x="5493988" y="9277350"/>
            <a:ext cx="9609889" cy="0"/>
          </a:xfrm>
          <a:prstGeom prst="line">
            <a:avLst/>
          </a:prstGeom>
          <a:ln cap="flat" w="38100">
            <a:solidFill>
              <a:srgbClr val="40359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DAHA8CvqxCA</dc:identifier>
  <dcterms:modified xsi:type="dcterms:W3CDTF">2011-08-01T06:04:30Z</dcterms:modified>
  <cp:revision>1</cp:revision>
  <dc:title>EXPENSE TRACKER WITH CATEGORIES</dc:title>
</cp:coreProperties>
</file>